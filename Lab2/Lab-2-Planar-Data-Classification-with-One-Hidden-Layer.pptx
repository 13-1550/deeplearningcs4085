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Sans Bold"/>
      <p:regular r:id="rId201314"/>
    </p:embeddedFont>
    <p:embeddedFont>
      <p:font typeface="Funnel Sans"/>
      <p:regular r:id="rId201315"/>
    </p:embeddedFont>
    <p:embeddedFont>
      <p:font typeface="Funnel Sans SemiBold"/>
      <p:regular r:id="rId201316"/>
    </p:embeddedFont>
    <p:embeddedFont>
      <p:font typeface="Martian Mono"/>
      <p:regular r:id="rId201317"/>
    </p:embeddedFont>
    <p:embeddedFont>
      <p:font typeface="Martian Mono Medium"/>
      <p:regular r:id="rId201318"/>
    </p:embeddedFont>
    <p:embeddedFont>
      <p:font typeface="Martian Mono Bold"/>
      <p:regular r:id="rId201319"/>
    </p:embeddedFont>
    <p:embeddedFont>
      <p:font typeface="Special Gothic Expanded One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E2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219" y="1431449"/>
            <a:ext cx="978828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100" dirty="0">
                <a:solidFill>
                  <a:srgbClr val="F4F3FA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LAB 2 CS4085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57219" y="1726291"/>
            <a:ext cx="9178695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88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Planar Data</a:t>
            </a:r>
            <a:endParaRPr lang="en-US" sz="44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400" spc="-88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Classification with</a:t>
            </a:r>
            <a:endParaRPr lang="en-US" sz="44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400" spc="-88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One Hidden Layer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938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A neural network, built from scratch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198007"/>
            <a:ext cx="1158211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spc="23" kern="100" dirty="0">
                <a:solidFill>
                  <a:srgbClr val="BDBE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CS4085 Deep Learning · Effat University · Dr. Naila Marir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1733352"/>
            <a:ext cx="1097252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A 2-class classifier with one hidden layer, compared with logistic regression. Given the following dataset: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54833"/>
            <a:ext cx="3822604" cy="28153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137487"/>
            <a:ext cx="1158211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dataset is a flower with some red (y=0) and some blue (y=1) points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9585" y="5558135"/>
            <a:ext cx="3454314" cy="1149945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8" name="Text 5"/>
          <p:cNvSpPr/>
          <p:nvPr/>
        </p:nvSpPr>
        <p:spPr>
          <a:xfrm>
            <a:off x="838179" y="5801816"/>
            <a:ext cx="29971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DBE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tanh units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8179" y="6223933"/>
            <a:ext cx="322571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Cross-entropy loss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68691" y="5558135"/>
            <a:ext cx="3454314" cy="1149945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11" name="Text 8"/>
          <p:cNvSpPr/>
          <p:nvPr/>
        </p:nvSpPr>
        <p:spPr>
          <a:xfrm>
            <a:off x="4597285" y="5801816"/>
            <a:ext cx="29971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DBE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Propagation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97285" y="6223933"/>
            <a:ext cx="322571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Forward and backward propagation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127797" y="5558135"/>
            <a:ext cx="3454314" cy="1149945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14" name="Text 11"/>
          <p:cNvSpPr/>
          <p:nvPr/>
        </p:nvSpPr>
        <p:spPr>
          <a:xfrm>
            <a:off x="8356391" y="5801816"/>
            <a:ext cx="29971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DBE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56391" y="6223933"/>
            <a:ext cx="322571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Gradient descent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938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Logistic regression reaches only 47% on the flower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2125861"/>
            <a:ext cx="5029769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0" spc="-150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47% </a:t>
            </a:r>
            <a:pPr algn="l" indent="0" marL="0">
              <a:lnSpc>
                <a:spcPct val="85000"/>
              </a:lnSpc>
              <a:buNone/>
            </a:pPr>
            <a:r>
              <a:rPr lang="en-US" sz="2300" spc="-150" kern="100" dirty="0">
                <a:solidFill>
                  <a:srgbClr val="8B6CFF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Accuracy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901196"/>
            <a:ext cx="50297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pattern is not linearly separable, so a straight boundary fails.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6443" y="1835348"/>
            <a:ext cx="5485667" cy="2694285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6" name="Text 4"/>
          <p:cNvSpPr/>
          <p:nvPr/>
        </p:nvSpPr>
        <p:spPr>
          <a:xfrm>
            <a:off x="6325037" y="2072997"/>
            <a:ext cx="525707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100" dirty="0">
                <a:solidFill>
                  <a:srgbClr val="BDBED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EXERCISE 1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5037" y="2345234"/>
            <a:ext cx="5028479" cy="31978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037" y="2772966"/>
            <a:ext cx="5028479" cy="3197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5037" y="3202920"/>
            <a:ext cx="525707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400 examples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25037" y="3612455"/>
            <a:ext cx="5028479" cy="19050"/>
          </a:xfrm>
          <a:prstGeom prst="roundRect">
            <a:avLst>
              <a:gd name="adj" fmla="val 49999"/>
            </a:avLst>
          </a:prstGeom>
          <a:solidFill>
            <a:srgbClr val="272B3A"/>
          </a:solidFill>
          <a:ln/>
        </p:spPr>
      </p:sp>
      <p:sp>
        <p:nvSpPr>
          <p:cNvPr id="11" name="Text 7"/>
          <p:cNvSpPr/>
          <p:nvPr/>
        </p:nvSpPr>
        <p:spPr>
          <a:xfrm>
            <a:off x="6325037" y="3787715"/>
            <a:ext cx="502847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7B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 is label 0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78A9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Blue is label 1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09585" y="4696956"/>
            <a:ext cx="1158211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7E89B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Since the dataset is non-linear, a neural network is a much better approach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09585" y="5117604"/>
            <a:ext cx="3454314" cy="1149945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14" name="Text 10"/>
          <p:cNvSpPr/>
          <p:nvPr/>
        </p:nvSpPr>
        <p:spPr>
          <a:xfrm>
            <a:off x="838179" y="5361285"/>
            <a:ext cx="29971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DBE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tanh units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38179" y="5783401"/>
            <a:ext cx="322571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Cross-entropy loss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368691" y="5117604"/>
            <a:ext cx="3454314" cy="1149945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17" name="Text 13"/>
          <p:cNvSpPr/>
          <p:nvPr/>
        </p:nvSpPr>
        <p:spPr>
          <a:xfrm>
            <a:off x="4597285" y="5361285"/>
            <a:ext cx="29971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DBE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Propagation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597285" y="5783401"/>
            <a:ext cx="322571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Forward and backward propagation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8127797" y="5117604"/>
            <a:ext cx="3454314" cy="1149945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20" name="Text 16"/>
          <p:cNvSpPr/>
          <p:nvPr/>
        </p:nvSpPr>
        <p:spPr>
          <a:xfrm>
            <a:off x="8356391" y="5361285"/>
            <a:ext cx="29971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DBE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Optimization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8356391" y="5783401"/>
            <a:ext cx="322571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Gradient descent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938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The Neural Network Model: 2 inputs, 4 tanh hidden units, 1 sigmoid output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93850"/>
            <a:ext cx="10972526" cy="2921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4679950"/>
            <a:ext cx="5257668" cy="31978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4679950"/>
            <a:ext cx="5257668" cy="31978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585" y="5169039"/>
            <a:ext cx="11582110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spc="23" kern="100" dirty="0">
                <a:solidFill>
                  <a:srgbClr val="BDBE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Predict 1 when </a:t>
            </a:r>
            <a:pPr algn="l" indent="0" marL="0">
              <a:lnSpc>
                <a:spcPct val="121000"/>
              </a:lnSpc>
              <a:buNone/>
            </a:pPr>
            <a:r>
              <a:rPr lang="en-US" sz="1100" i="1" spc="23" kern="100" dirty="0">
                <a:solidFill>
                  <a:srgbClr val="BDB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1000"/>
              </a:lnSpc>
              <a:buNone/>
            </a:pPr>
            <a:r>
              <a:rPr lang="en-US" sz="1150" spc="23" kern="100" dirty="0">
                <a:solidFill>
                  <a:srgbClr val="BDBE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, otherwise 0.</a:t>
            </a:r>
            <a:endParaRPr lang="en-US" sz="115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925" y="5196582"/>
            <a:ext cx="554222" cy="183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293"/>
            <a:ext cx="10972526" cy="722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spc="-41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Exercises 2 to 4: structure, initialization, forward propagation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85" y="1467247"/>
            <a:ext cx="701062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8B6C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9585" y="1700213"/>
            <a:ext cx="3352716" cy="19050"/>
          </a:xfrm>
          <a:prstGeom prst="rect">
            <a:avLst/>
          </a:prstGeom>
          <a:solidFill>
            <a:srgbClr val="8B6C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31903"/>
            <a:ext cx="3352716" cy="27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206955"/>
            <a:ext cx="3352716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layer_sizes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5" y="2564011"/>
            <a:ext cx="3352716" cy="841375"/>
          </a:xfrm>
          <a:prstGeom prst="roundRect">
            <a:avLst>
              <a:gd name="adj" fmla="val 21735"/>
            </a:avLst>
          </a:prstGeom>
          <a:solidFill>
            <a:srgbClr val="12141C"/>
          </a:solidFill>
          <a:ln w="6350">
            <a:solidFill>
              <a:srgbClr val="27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130" y="2726707"/>
            <a:ext cx="293362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n_x = X.shape[0]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 = 4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n_y = Y.shape[0]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19489" y="1467247"/>
            <a:ext cx="701062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8B6C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489" y="1700213"/>
            <a:ext cx="3352716" cy="19050"/>
          </a:xfrm>
          <a:prstGeom prst="rect">
            <a:avLst/>
          </a:prstGeom>
          <a:solidFill>
            <a:srgbClr val="8B6CFF"/>
          </a:solidFill>
          <a:ln/>
        </p:spPr>
      </p:sp>
      <p:sp>
        <p:nvSpPr>
          <p:cNvPr id="11" name="Text 9"/>
          <p:cNvSpPr/>
          <p:nvPr/>
        </p:nvSpPr>
        <p:spPr>
          <a:xfrm>
            <a:off x="4419489" y="1831903"/>
            <a:ext cx="3352716" cy="27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Initialization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19489" y="2200473"/>
            <a:ext cx="3352716" cy="7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spcAft>
                <a:spcPts val="650"/>
              </a:spcAft>
              <a:buNone/>
            </a:pPr>
            <a:r>
              <a:rPr lang="en-US" sz="130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initialize_parameters</a:t>
            </a:r>
            <a:endParaRPr lang="en-US" sz="1300" dirty="0"/>
          </a:p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Weights are </a:t>
            </a:r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randn * 0.01</a:t>
            </a:r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; biases are zeros.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394" y="1467247"/>
            <a:ext cx="701062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8B6C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394" y="1700213"/>
            <a:ext cx="3352716" cy="19050"/>
          </a:xfrm>
          <a:prstGeom prst="rect">
            <a:avLst/>
          </a:prstGeom>
          <a:solidFill>
            <a:srgbClr val="8B6C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394" y="1831903"/>
            <a:ext cx="3352716" cy="27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Forward pass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394" y="2206955"/>
            <a:ext cx="3352716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forward_propagation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394" y="2564011"/>
            <a:ext cx="3352716" cy="1016000"/>
          </a:xfrm>
          <a:prstGeom prst="roundRect">
            <a:avLst>
              <a:gd name="adj" fmla="val 18000"/>
            </a:avLst>
          </a:prstGeom>
          <a:solidFill>
            <a:srgbClr val="12141C"/>
          </a:solidFill>
          <a:ln w="6350">
            <a:solidFill>
              <a:srgbClr val="27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8939" y="2726707"/>
            <a:ext cx="293362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Z1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= np.tanh(Z1)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Z2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= sigmoid(Z2)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394" y="3722026"/>
            <a:ext cx="3352716" cy="221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cached.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585" y="4222471"/>
            <a:ext cx="10972526" cy="36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00" spc="-41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Exercise 5: cross-entropy cost (cost function)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09585" y="4689971"/>
            <a:ext cx="10972526" cy="1419820"/>
          </a:xfrm>
          <a:prstGeom prst="rect">
            <a:avLst/>
          </a:prstGeom>
          <a:solidFill>
            <a:srgbClr val="12141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73" y="5172571"/>
            <a:ext cx="10007350" cy="4546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9585" y="6250980"/>
            <a:ext cx="11582110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Vectorized with </a:t>
            </a:r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np.multiply</a:t>
            </a:r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np.log</a:t>
            </a:r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np.sum</a:t>
            </a:r>
            <a:pPr algn="l" indent="0" marL="0">
              <a:lnSpc>
                <a:spcPct val="111000"/>
              </a:lnSpc>
              <a:buNone/>
            </a:pPr>
            <a:r>
              <a:rPr lang="en-US" sz="15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no loops.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3961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Exercise 6: backpropagation in six equations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390477"/>
            <a:ext cx="5257668" cy="2280444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628126"/>
            <a:ext cx="5029074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100" dirty="0">
                <a:solidFill>
                  <a:srgbClr val="BDBED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OUTPUT LAYER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900363"/>
            <a:ext cx="4800480" cy="31978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" y="3328095"/>
            <a:ext cx="4800480" cy="50313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3939183"/>
            <a:ext cx="4800480" cy="50313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324442" y="2390477"/>
            <a:ext cx="5257668" cy="2280444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9" name="Text 4"/>
          <p:cNvSpPr/>
          <p:nvPr/>
        </p:nvSpPr>
        <p:spPr>
          <a:xfrm>
            <a:off x="6553036" y="2628126"/>
            <a:ext cx="5029074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100" dirty="0">
                <a:solidFill>
                  <a:srgbClr val="BDBED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HIDDEN LAYER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2900363"/>
            <a:ext cx="4800480" cy="31978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36" y="3328095"/>
            <a:ext cx="4800480" cy="503138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36" y="3939183"/>
            <a:ext cx="4800480" cy="50313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09585" y="4840228"/>
            <a:ext cx="11582110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50" spc="23" kern="100" dirty="0">
                <a:solidFill>
                  <a:srgbClr val="BDBE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tanh derivative is </a:t>
            </a:r>
            <a:pPr algn="l" indent="0" marL="0">
              <a:lnSpc>
                <a:spcPct val="121000"/>
              </a:lnSpc>
              <a:buNone/>
            </a:pPr>
            <a:r>
              <a:rPr lang="en-US" sz="1100" i="1" spc="23" kern="100" dirty="0">
                <a:solidFill>
                  <a:srgbClr val="BDB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1000"/>
              </a:lnSpc>
              <a:buNone/>
            </a:pPr>
            <a:r>
              <a:rPr lang="en-US" sz="1150" spc="23" kern="100" dirty="0">
                <a:solidFill>
                  <a:srgbClr val="BDBE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</a:t>
            </a:r>
            <a:endParaRPr lang="en-US" sz="11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8180" y="4867771"/>
            <a:ext cx="390019" cy="1838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1033"/>
            <a:ext cx="10972526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650" spc="-39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Exercises 7 to 9: train and predict, reaching 90% accuracy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086842"/>
            <a:ext cx="10972526" cy="451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1674323"/>
            <a:ext cx="5362738" cy="21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5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nn_model</a:t>
            </a:r>
            <a:pPr algn="l" indent="0" marL="0">
              <a:lnSpc>
                <a:spcPct val="109000"/>
              </a:lnSpc>
              <a:buNone/>
            </a:pPr>
            <a:r>
              <a:rPr lang="en-US" sz="12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loops: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9585" y="1960066"/>
            <a:ext cx="786983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8B6C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09585" y="2185888"/>
            <a:ext cx="1226313" cy="19050"/>
          </a:xfrm>
          <a:prstGeom prst="rect">
            <a:avLst/>
          </a:prstGeom>
          <a:solidFill>
            <a:srgbClr val="8B6CFF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2312714"/>
            <a:ext cx="1226313" cy="22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Forward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88294" y="1960066"/>
            <a:ext cx="786983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8B6C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988294" y="2185888"/>
            <a:ext cx="1226313" cy="19050"/>
          </a:xfrm>
          <a:prstGeom prst="rect">
            <a:avLst/>
          </a:prstGeom>
          <a:solidFill>
            <a:srgbClr val="8B6CFF"/>
          </a:solidFill>
          <a:ln/>
        </p:spPr>
      </p:sp>
      <p:sp>
        <p:nvSpPr>
          <p:cNvPr id="10" name="Text 7"/>
          <p:cNvSpPr/>
          <p:nvPr/>
        </p:nvSpPr>
        <p:spPr>
          <a:xfrm>
            <a:off x="1988294" y="2312714"/>
            <a:ext cx="1226412" cy="22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Cost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67102" y="1960066"/>
            <a:ext cx="786983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8B6C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67102" y="2185888"/>
            <a:ext cx="1226313" cy="19050"/>
          </a:xfrm>
          <a:prstGeom prst="rect">
            <a:avLst/>
          </a:prstGeom>
          <a:solidFill>
            <a:srgbClr val="8B6CFF"/>
          </a:solidFill>
          <a:ln/>
        </p:spPr>
      </p:sp>
      <p:sp>
        <p:nvSpPr>
          <p:cNvPr id="13" name="Text 10"/>
          <p:cNvSpPr/>
          <p:nvPr/>
        </p:nvSpPr>
        <p:spPr>
          <a:xfrm>
            <a:off x="3367102" y="2312714"/>
            <a:ext cx="1226412" cy="22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Backward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45911" y="1960066"/>
            <a:ext cx="786983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8B6C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45911" y="2185888"/>
            <a:ext cx="1226313" cy="19050"/>
          </a:xfrm>
          <a:prstGeom prst="rect">
            <a:avLst/>
          </a:prstGeom>
          <a:solidFill>
            <a:srgbClr val="8B6CFF"/>
          </a:solidFill>
          <a:ln/>
        </p:spPr>
      </p:sp>
      <p:sp>
        <p:nvSpPr>
          <p:cNvPr id="16" name="Text 13"/>
          <p:cNvSpPr/>
          <p:nvPr/>
        </p:nvSpPr>
        <p:spPr>
          <a:xfrm>
            <a:off x="4745911" y="2312714"/>
            <a:ext cx="1226412" cy="22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Update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9585" y="2615909"/>
            <a:ext cx="5362738" cy="21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Cost falls from 0.693 to about 0.218 over 10,000 iterations.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9585" y="2910588"/>
            <a:ext cx="536273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50" dirty="0">
                <a:solidFill>
                  <a:srgbClr val="F4F3FA"/>
                </a:solidFill>
                <a:highlight>
                  <a:srgbClr val="12141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algn="l" indent="0" marL="0">
              <a:lnSpc>
                <a:spcPct val="109000"/>
              </a:lnSpc>
              <a:buNone/>
            </a:pPr>
            <a:r>
              <a:rPr lang="en-US" sz="12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thresholds </a:t>
            </a:r>
            <a:pPr algn="l" indent="0" marL="0">
              <a:lnSpc>
                <a:spcPct val="109000"/>
              </a:lnSpc>
              <a:buNone/>
            </a:pPr>
            <a:r>
              <a:rPr lang="en-US" sz="1200" i="1" dirty="0">
                <a:solidFill>
                  <a:srgbClr val="BDB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09000"/>
              </a:lnSpc>
              <a:buNone/>
            </a:pPr>
            <a:r>
              <a:rPr lang="en-US" sz="12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 0.5.</a:t>
            </a:r>
            <a:endParaRPr lang="en-US" sz="12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83" y="2927052"/>
            <a:ext cx="181169" cy="195461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00041"/>
            <a:ext cx="3809905" cy="29845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413" y="1665387"/>
            <a:ext cx="5152698" cy="3948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938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Hidden size and learning rate both shape the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608931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Hidden size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8825"/>
          <a:ext cx="5257669" cy="914400"/>
        </p:xfrm>
        <a:graphic>
          <a:graphicData uri="http://schemas.openxmlformats.org/drawingml/2006/table">
            <a:tbl>
              <a:tblPr/>
              <a:tblGrid>
                <a:gridCol w="2102988"/>
                <a:gridCol w="3154681"/>
              </a:tblGrid>
              <a:tr h="472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84" kern="100" dirty="0">
                          <a:solidFill>
                            <a:srgbClr val="8D90A6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HIDDEN UNITS</a:t>
                      </a:r>
                      <a:endParaRPr lang="en-US" sz="105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84" kern="100" dirty="0">
                          <a:solidFill>
                            <a:srgbClr val="8D90A6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RESULT</a:t>
                      </a:r>
                      <a:endParaRPr lang="en-US" sz="105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3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BDBED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 or 2</a:t>
                      </a:r>
                      <a:endParaRPr lang="en-US" sz="14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BDBED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About 67%</a:t>
                      </a:r>
                      <a:endParaRPr lang="en-US" sz="14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3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BDBED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3 to 5</a:t>
                      </a:r>
                      <a:endParaRPr lang="en-US" sz="14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BDBED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About 90 to 91%</a:t>
                      </a:r>
                      <a:endParaRPr lang="en-US" sz="14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371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BDBED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 and 50</a:t>
                      </a:r>
                      <a:endParaRPr lang="en-US" sz="14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BDBED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Risk overfitting</a:t>
                      </a:r>
                      <a:endParaRPr lang="en-US" sz="14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799" marR="152396" marT="139697" marB="1396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2494844"/>
            <a:ext cx="5257668" cy="6350"/>
          </a:xfrm>
          <a:prstGeom prst="rect">
            <a:avLst/>
          </a:prstGeom>
          <a:solidFill>
            <a:srgbClr val="272B3A"/>
          </a:solidFill>
          <a:ln/>
        </p:spPr>
      </p:sp>
      <p:sp>
        <p:nvSpPr>
          <p:cNvPr id="6" name="Shape 3"/>
          <p:cNvSpPr/>
          <p:nvPr/>
        </p:nvSpPr>
        <p:spPr>
          <a:xfrm>
            <a:off x="609585" y="3038351"/>
            <a:ext cx="5257668" cy="6350"/>
          </a:xfrm>
          <a:prstGeom prst="rect">
            <a:avLst/>
          </a:prstGeom>
          <a:solidFill>
            <a:srgbClr val="272B3A"/>
          </a:solidFill>
          <a:ln/>
        </p:spPr>
      </p:sp>
      <p:sp>
        <p:nvSpPr>
          <p:cNvPr id="7" name="Shape 4"/>
          <p:cNvSpPr/>
          <p:nvPr/>
        </p:nvSpPr>
        <p:spPr>
          <a:xfrm>
            <a:off x="609585" y="3581857"/>
            <a:ext cx="5257668" cy="6350"/>
          </a:xfrm>
          <a:prstGeom prst="rect">
            <a:avLst/>
          </a:prstGeom>
          <a:solidFill>
            <a:srgbClr val="272B3A"/>
          </a:solidFill>
          <a:ln/>
        </p:spPr>
      </p:sp>
      <p:sp>
        <p:nvSpPr>
          <p:cNvPr id="8" name="Text 5"/>
          <p:cNvSpPr/>
          <p:nvPr/>
        </p:nvSpPr>
        <p:spPr>
          <a:xfrm>
            <a:off x="609585" y="4238764"/>
            <a:ext cx="525766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Best size here is about 5 units.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24442" y="1608931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Learning rate</a:t>
            </a:r>
            <a:endParaRPr lang="en-US" sz="1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2" y="2003425"/>
            <a:ext cx="4825879" cy="34947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55"/>
            <a:ext cx="109725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800" spc="-27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Comparing Logistic Regression and Neural Networks performance in different datasets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1165423"/>
            <a:ext cx="55381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Noisy Circles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347093"/>
            <a:ext cx="4978275" cy="24227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816117"/>
            <a:ext cx="5538153" cy="12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85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Blobs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971131"/>
            <a:ext cx="4978275" cy="23847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4827" y="1165423"/>
            <a:ext cx="49772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4F3F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Noisy Moons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827" y="1347093"/>
            <a:ext cx="4977283" cy="2307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585" y="6577806"/>
            <a:ext cx="10972526" cy="306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00"/>
              </a:lnSpc>
              <a:spcAft>
                <a:spcPts val="450"/>
              </a:spcAft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938"/>
            <a:ext cx="109725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4F3FA"/>
                </a:solidFill>
                <a:latin typeface="Special Gothic Expanded One" pitchFamily="34" charset="0"/>
                <a:ea typeface="Special Gothic Expanded One" pitchFamily="34" charset="-122"/>
                <a:cs typeface="Special Gothic Expanded One" pitchFamily="34" charset="-120"/>
              </a:rPr>
              <a:t>The network beats logistic regression on other datasets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74800"/>
            <a:ext cx="10667733" cy="368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428298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DBE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hidden layer learns non-linear boundaries; next we'll try ReLU and regularization.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2026-10-08T10:07:33Z</dcterms:created>
  <dcterms:modified xsi:type="dcterms:W3CDTF">2026-10-08T10:07:33Z</dcterms:modified>
</cp:coreProperties>
</file>